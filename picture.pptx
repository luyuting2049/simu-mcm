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1" d="100"/>
          <a:sy n="81" d="100"/>
        </p:scale>
        <p:origin x="3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Override" Target="../theme/themeOverride1.xml"/><Relationship Id="rId7" Type="http://schemas.openxmlformats.org/officeDocument/2006/relationships/image" Target="../media/image4.png"/><Relationship Id="rId2" Type="http://schemas.microsoft.com/office/2011/relationships/chartColorStyle" Target="colors2.xml"/><Relationship Id="rId1" Type="http://schemas.microsoft.com/office/2011/relationships/chartStyle" Target="style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package" Target="../embeddings/Microsoft_Excel_Worksheet1.xlsx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Hourly User Water Demand Time Series Plot</a:t>
            </a:r>
            <a:endParaRPr lang="zh-C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2.967164866359746E-2"/>
          <c:y val="8.099197480648368E-2"/>
          <c:w val="0.95220951297864342"/>
          <c:h val="0.7994393076293229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relative_demand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0.82530000000000003</c:v>
                </c:pt>
                <c:pt idx="1">
                  <c:v>0.80610000000000004</c:v>
                </c:pt>
                <c:pt idx="2">
                  <c:v>0.80020000000000002</c:v>
                </c:pt>
                <c:pt idx="3">
                  <c:v>0.80779999999999996</c:v>
                </c:pt>
                <c:pt idx="4">
                  <c:v>0.8286</c:v>
                </c:pt>
                <c:pt idx="5">
                  <c:v>0.86099999999999999</c:v>
                </c:pt>
                <c:pt idx="6">
                  <c:v>0.90290000000000004</c:v>
                </c:pt>
                <c:pt idx="7">
                  <c:v>0.95150000000000001</c:v>
                </c:pt>
                <c:pt idx="8">
                  <c:v>1.0033000000000001</c:v>
                </c:pt>
                <c:pt idx="9">
                  <c:v>1.0548999999999999</c:v>
                </c:pt>
                <c:pt idx="10">
                  <c:v>1.1028</c:v>
                </c:pt>
                <c:pt idx="11">
                  <c:v>1.1435999999999999</c:v>
                </c:pt>
                <c:pt idx="12">
                  <c:v>1.1747000000000001</c:v>
                </c:pt>
                <c:pt idx="13">
                  <c:v>1.1939</c:v>
                </c:pt>
                <c:pt idx="14">
                  <c:v>1.1998</c:v>
                </c:pt>
                <c:pt idx="15">
                  <c:v>1.1921999999999999</c:v>
                </c:pt>
                <c:pt idx="16">
                  <c:v>1.1714</c:v>
                </c:pt>
                <c:pt idx="17">
                  <c:v>1.139</c:v>
                </c:pt>
                <c:pt idx="18">
                  <c:v>1.0971</c:v>
                </c:pt>
                <c:pt idx="19">
                  <c:v>1.0485</c:v>
                </c:pt>
                <c:pt idx="20">
                  <c:v>0.99670000000000003</c:v>
                </c:pt>
                <c:pt idx="21">
                  <c:v>0.94510000000000005</c:v>
                </c:pt>
                <c:pt idx="22">
                  <c:v>0.8972</c:v>
                </c:pt>
                <c:pt idx="23">
                  <c:v>0.85640000000000005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D-4C9C-A5C9-295B6DDAB9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52266928"/>
        <c:axId val="452274128"/>
      </c:barChart>
      <c:catAx>
        <c:axId val="452266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52274128"/>
        <c:crosses val="autoZero"/>
        <c:auto val="1"/>
        <c:lblAlgn val="ctr"/>
        <c:lblOffset val="100"/>
        <c:noMultiLvlLbl val="0"/>
      </c:catAx>
      <c:valAx>
        <c:axId val="452274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522669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rgbClr val="364F99"/>
                </a:solidFill>
                <a:latin typeface="+mn-lt"/>
                <a:ea typeface="+mn-ea"/>
                <a:cs typeface="+mn-cs"/>
              </a:defRPr>
            </a:pPr>
            <a:r>
              <a:rPr lang="zh-CN" altLang="en-US"/>
              <a:t>标题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rgbClr val="364F99"/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1.7187500000000001E-2"/>
          <c:y val="0.16811865353600802"/>
          <c:w val="0.92656249999999996"/>
          <c:h val="0.77967441069916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决策</c:v>
                </c:pt>
              </c:strCache>
            </c:strRef>
          </c:tx>
          <c:spPr>
            <a:blipFill>
              <a:blip xmlns:r="http://schemas.openxmlformats.org/officeDocument/2006/relationships" r:embed="rId4"/>
              <a:stretch>
                <a:fillRect/>
              </a:stretch>
            </a:blipFill>
            <a:ln w="9525" cap="flat" cmpd="sng" algn="ctr">
              <a:noFill/>
              <a:round/>
            </a:ln>
            <a:effectLst/>
          </c:spPr>
          <c:invertIfNegative val="0"/>
          <c:dLbls>
            <c:spPr>
              <a:blipFill>
                <a:blip xmlns:r="http://schemas.openxmlformats.org/officeDocument/2006/relationships" r:embed="rId5"/>
                <a:stretch>
                  <a:fillRect/>
                </a:stretch>
              </a:blip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364F99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Sheet1!$A$8:$A$11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9</c:v>
                </c:pt>
                <c:pt idx="3">
                  <c:v>10</c:v>
                </c:pt>
              </c:numCache>
            </c:numRef>
          </c:cat>
          <c:val>
            <c:numRef>
              <c:f>Sheet1!$B$8:$B$11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BA92-4CE5-BC08-C9E6C17158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应急储水余量（m³）</c:v>
                </c:pt>
              </c:strCache>
            </c:strRef>
          </c:tx>
          <c:spPr>
            <a:blipFill>
              <a:blip xmlns:r="http://schemas.openxmlformats.org/officeDocument/2006/relationships" r:embed="rId6"/>
              <a:stretch>
                <a:fillRect/>
              </a:stretch>
            </a:blipFill>
            <a:ln w="9525" cap="flat" cmpd="sng" algn="ctr">
              <a:noFill/>
              <a:round/>
            </a:ln>
            <a:effectLst/>
          </c:spPr>
          <c:invertIfNegative val="0"/>
          <c:dLbls>
            <c:spPr>
              <a:blipFill>
                <a:blip xmlns:r="http://schemas.openxmlformats.org/officeDocument/2006/relationships" r:embed="rId7"/>
                <a:stretch>
                  <a:fillRect/>
                </a:stretch>
              </a:blip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367899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Sheet1!$A$8:$A$11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9</c:v>
                </c:pt>
                <c:pt idx="3">
                  <c:v>10</c:v>
                </c:pt>
              </c:numCache>
            </c:numRef>
          </c:cat>
          <c:val>
            <c:numRef>
              <c:f>Sheet1!$C$8:$C$11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1-BA92-4CE5-BC08-C9E6C17158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取水口的污染物浓度（mg/L）</c:v>
                </c:pt>
              </c:strCache>
            </c:strRef>
          </c:tx>
          <c:spPr>
            <a:blipFill>
              <a:blip xmlns:r="http://schemas.openxmlformats.org/officeDocument/2006/relationships" r:embed="rId8"/>
              <a:stretch>
                <a:fillRect/>
              </a:stretch>
            </a:blipFill>
            <a:ln w="9525" cap="flat" cmpd="sng" algn="ctr">
              <a:noFill/>
              <a:round/>
            </a:ln>
            <a:effectLst/>
          </c:spPr>
          <c:invertIfNegative val="0"/>
          <c:dLbls>
            <c:spPr>
              <a:blipFill>
                <a:blip xmlns:r="http://schemas.openxmlformats.org/officeDocument/2006/relationships" r:embed="rId9"/>
                <a:stretch>
                  <a:fillRect/>
                </a:stretch>
              </a:blip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367899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Sheet1!$A$8:$A$11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9</c:v>
                </c:pt>
                <c:pt idx="3">
                  <c:v>10</c:v>
                </c:pt>
              </c:numCache>
            </c:numRef>
          </c:cat>
          <c:val>
            <c:numRef>
              <c:f>Sheet1!$D$8:$D$11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2-BA92-4CE5-BC08-C9E6C17158F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25"/>
        <c:axId val="572148304"/>
        <c:axId val="572157904"/>
      </c:barChart>
      <c:catAx>
        <c:axId val="572148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367899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72157904"/>
        <c:crosses val="autoZero"/>
        <c:auto val="1"/>
        <c:lblAlgn val="ctr"/>
        <c:lblOffset val="100"/>
        <c:noMultiLvlLbl val="0"/>
      </c:catAx>
      <c:valAx>
        <c:axId val="572157904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bg1">
                  <a:lumMod val="95000"/>
                  <a:alpha val="57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572148304"/>
        <c:crosses val="autoZero"/>
        <c:crossBetween val="between"/>
      </c:valAx>
      <c:spPr>
        <a:noFill/>
        <a:ln>
          <a:solidFill>
            <a:schemeClr val="bg1">
              <a:lumMod val="95000"/>
              <a:alpha val="15000"/>
            </a:schemeClr>
          </a:solidFill>
        </a:ln>
        <a:effectLst/>
      </c:spPr>
    </c:plotArea>
    <c:legend>
      <c:legendPos val="t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zh-CN"/>
    </a:p>
  </c:txPr>
  <c:externalData r:id="rId10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5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defRPr sz="9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9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DEE8C2-422E-B73C-5C4C-3001D3AF8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06AAAB1-E46B-9CFC-2683-54E7E9E11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53C266-894A-528E-08D9-3B89172C3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C108C4-33ED-DB8C-954C-2B8729E9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44B75D-2632-3EC0-C281-42EC4D43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5244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1EBAC8-6BF5-5C35-1C09-59CFF5E2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14A127-2529-04E1-755D-42BC7FC51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FA6F23-D4C7-19AC-6347-45DA225C4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57C72B-6B59-06DE-B2F8-11AB4303D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65C775-801E-1C02-A4E5-E419CB18F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65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B2A4C6-8156-8E99-1A03-4C484997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E4E2B1-29FC-FA4E-676C-2C4BE391B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FB278B-EA0B-2319-31A2-0FEF00C56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2A55D0-B666-B185-375F-E9BA50AE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23D0E-377D-B143-9D45-8002B61AD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5429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9CC3C6-1426-1681-747B-1A02D207D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F5CF4B-B09E-8C27-4268-7077BBE787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CCBCEA3-238D-9493-7FAF-A38688096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2243E8-E0F6-6FCC-1CFF-9A1E575B2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F85C4E-F8B4-DE0A-D745-2A8E0B29E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0DC4A2-3EC0-9B17-B0FE-DD7AE49A8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146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247E4-22B8-D510-CEF6-88659EDEA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5FEF867-48CA-3CC3-3392-A3D1EA0FD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85AECD-00E9-CC08-E9E0-7A27D966BF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8A5221-1ABA-A591-2E14-986585651E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30814D-460E-E8C1-0DA3-4DCB057C5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6131EFC-9805-DD3C-BA59-CFF9A0D4D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0F92642-1C42-6A1B-AAF8-F7386D149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06B8652-E1B9-C9C1-4C7A-63EBB1D3C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3231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5F96B5-9E3D-ED86-00C6-99FA5B06E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3F142FD-3D91-6766-405B-EB3CE673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2A30F9-2CC0-A250-5394-D158FB8B4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0E58A79-5E52-CE45-5DED-C12938684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7109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89C3CD-636B-B973-B0EA-9D4F49F2C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148C4CB-4771-086E-48B4-A0B799F08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26EB66-0248-A31D-0BD9-4BFEA3DF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287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913AEC-5BAD-D1FB-A06D-DEA04E7F9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478B8A-F29F-3E53-7C6A-ACC9682EE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4082B3-BE3E-E8C9-9BD7-C6C8CE28F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179E042-544D-0D6A-0ADF-0564D2FCD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C87D772-6E1D-44AC-31E9-36990B317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733E9F9-E702-D949-3BE4-815AA3CDA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177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074992-1074-1ACC-8982-0F569DF81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C2E2B74-4FB1-4A0D-A405-B129B3E6E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6A9490E-FB3F-789D-0BFB-48E56ADE97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ECF53B-09C9-DB49-3936-AA95609C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E3626C-CDA0-CEA0-8028-998E32085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95FB02-4472-924E-E364-E7C1F916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297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4085B1-495E-BEBE-23B4-A5C34FFB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B1F8023-EF60-E32E-CD82-5B7C7E5187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4BFA94-76F4-C295-EFA9-0246B5AE4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070153F-929F-C86A-24EC-DA3FD44B0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DE87E-596A-30E9-6B87-3E2D98532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672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DFB8B9D-2B30-8414-DA4B-A62EC37400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873EC20-F496-E898-A328-2AF4F2101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747E55-F3D8-9EBB-1E5A-3A3E24DE9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3434C55-9BC5-80C2-6BA9-B05CE33C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FF043-FE92-6369-0A6C-87C3854B0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384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3777A2C-7797-986D-95E6-50BBF1F6A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2994C9-48C5-A0CC-7CAC-7F919336A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E24F1B-1138-A825-4EE9-7B57E70423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E852B9-6D55-498C-B15E-79DB98A8E2B6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3FC767-752C-EFAB-5D18-2B7E235C2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EFE21-8C06-D19F-AEF1-E1A5216F1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540C86-B099-4503-ACA8-E2AADB1C54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501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表 3">
            <a:extLst>
              <a:ext uri="{FF2B5EF4-FFF2-40B4-BE49-F238E27FC236}">
                <a16:creationId xmlns:a16="http://schemas.microsoft.com/office/drawing/2014/main" id="{8AE580E6-182B-1C4C-4904-44DCD7A8CF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2109380"/>
              </p:ext>
            </p:extLst>
          </p:nvPr>
        </p:nvGraphicFramePr>
        <p:xfrm>
          <a:off x="410134" y="551578"/>
          <a:ext cx="11214847" cy="60307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22811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表 3">
            <a:extLst>
              <a:ext uri="{FF2B5EF4-FFF2-40B4-BE49-F238E27FC236}">
                <a16:creationId xmlns:a16="http://schemas.microsoft.com/office/drawing/2014/main" id="{915EF113-87FE-45B7-D691-1B5C29A4CE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354306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658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0D6444-683F-D9C3-832A-C6163D8B4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5D7A81-FD31-7C31-C753-93D94F24E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588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气流">
    <a:dk1>
      <a:sysClr val="windowText" lastClr="000000"/>
    </a:dk1>
    <a:lt1>
      <a:sysClr val="window" lastClr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自定义 3">
    <a:majorFont>
      <a:latin typeface="Arial Black"/>
      <a:ea typeface="微软雅黑"/>
      <a:cs typeface=""/>
    </a:majorFont>
    <a:minorFont>
      <a:latin typeface="Arial"/>
      <a:ea typeface="微软雅黑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宽屏</PresentationFormat>
  <Paragraphs>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渝曼 张</dc:creator>
  <cp:lastModifiedBy>渝曼 张</cp:lastModifiedBy>
  <cp:revision>1</cp:revision>
  <dcterms:created xsi:type="dcterms:W3CDTF">2026-01-21T16:02:07Z</dcterms:created>
  <dcterms:modified xsi:type="dcterms:W3CDTF">2026-01-21T16:02:15Z</dcterms:modified>
</cp:coreProperties>
</file>