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1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Hourly User Water Demand Time Series Plot</a:t>
            </a:r>
            <a:endParaRPr lang="zh-C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967164866359746E-2"/>
          <c:y val="8.099197480648368E-2"/>
          <c:w val="0.95220951297864342"/>
          <c:h val="0.7994393076293229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relative_demand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0.82530000000000003</c:v>
                </c:pt>
                <c:pt idx="1">
                  <c:v>0.80610000000000004</c:v>
                </c:pt>
                <c:pt idx="2">
                  <c:v>0.80020000000000002</c:v>
                </c:pt>
                <c:pt idx="3">
                  <c:v>0.80779999999999996</c:v>
                </c:pt>
                <c:pt idx="4">
                  <c:v>0.8286</c:v>
                </c:pt>
                <c:pt idx="5">
                  <c:v>0.86099999999999999</c:v>
                </c:pt>
                <c:pt idx="6">
                  <c:v>0.90290000000000004</c:v>
                </c:pt>
                <c:pt idx="7">
                  <c:v>0.95150000000000001</c:v>
                </c:pt>
                <c:pt idx="8">
                  <c:v>1.0033000000000001</c:v>
                </c:pt>
                <c:pt idx="9">
                  <c:v>1.0548999999999999</c:v>
                </c:pt>
                <c:pt idx="10">
                  <c:v>1.1028</c:v>
                </c:pt>
                <c:pt idx="11">
                  <c:v>1.1435999999999999</c:v>
                </c:pt>
                <c:pt idx="12">
                  <c:v>1.1747000000000001</c:v>
                </c:pt>
                <c:pt idx="13">
                  <c:v>1.1939</c:v>
                </c:pt>
                <c:pt idx="14">
                  <c:v>1.1998</c:v>
                </c:pt>
                <c:pt idx="15">
                  <c:v>1.1921999999999999</c:v>
                </c:pt>
                <c:pt idx="16">
                  <c:v>1.1714</c:v>
                </c:pt>
                <c:pt idx="17">
                  <c:v>1.139</c:v>
                </c:pt>
                <c:pt idx="18">
                  <c:v>1.0971</c:v>
                </c:pt>
                <c:pt idx="19">
                  <c:v>1.0485</c:v>
                </c:pt>
                <c:pt idx="20">
                  <c:v>0.99670000000000003</c:v>
                </c:pt>
                <c:pt idx="21">
                  <c:v>0.94510000000000005</c:v>
                </c:pt>
                <c:pt idx="22">
                  <c:v>0.8972</c:v>
                </c:pt>
                <c:pt idx="23">
                  <c:v>0.85640000000000005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D-4C9C-A5C9-295B6DDAB9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2266928"/>
        <c:axId val="452274128"/>
      </c:barChart>
      <c:catAx>
        <c:axId val="45226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2274128"/>
        <c:crosses val="autoZero"/>
        <c:auto val="1"/>
        <c:lblAlgn val="ctr"/>
        <c:lblOffset val="100"/>
        <c:noMultiLvlLbl val="0"/>
      </c:catAx>
      <c:valAx>
        <c:axId val="45227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5226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EE8C2-422E-B73C-5C4C-3001D3AF8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6AAAB1-E46B-9CFC-2683-54E7E9E11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53C266-894A-528E-08D9-3B89172C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108C4-33ED-DB8C-954C-2B8729E9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4B75D-2632-3EC0-C281-42EC4D43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24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EBAC8-6BF5-5C35-1C09-59CFF5E2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4A127-2529-04E1-755D-42BC7FC51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FA6F23-D4C7-19AC-6347-45DA225C4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57C72B-6B59-06DE-B2F8-11AB4303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65C775-801E-1C02-A4E5-E419CB18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6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2A4C6-8156-8E99-1A03-4C484997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E4E2B1-29FC-FA4E-676C-2C4BE391B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FB278B-EA0B-2319-31A2-0FEF00C5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2A55D0-B666-B185-375F-E9BA50AE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623D0E-377D-B143-9D45-8002B61AD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2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9CC3C6-1426-1681-747B-1A02D207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5CF4B-B09E-8C27-4268-7077BBE787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CBCEA3-238D-9493-7FAF-A38688096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2243E8-E0F6-6FCC-1CFF-9A1E575B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F85C4E-F8B4-DE0A-D745-2A8E0B29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0DC4A2-3EC0-9B17-B0FE-DD7AE49A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46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247E4-22B8-D510-CEF6-88659EDE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FEF867-48CA-3CC3-3392-A3D1EA0FD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85AECD-00E9-CC08-E9E0-7A27D966B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8A5221-1ABA-A591-2E14-986585651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30814D-460E-E8C1-0DA3-4DCB057C5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6131EFC-9805-DD3C-BA59-CFF9A0D4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0F92642-1C42-6A1B-AAF8-F7386D14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6B8652-E1B9-C9C1-4C7A-63EBB1D3C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231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5F96B5-9E3D-ED86-00C6-99FA5B06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F142FD-3D91-6766-405B-EB3CE673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2A30F9-2CC0-A250-5394-D158FB8B4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E58A79-5E52-CE45-5DED-C1293868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109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89C3CD-636B-B973-B0EA-9D4F49F2C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48C4CB-4771-086E-48B4-A0B799F08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26EB66-0248-A31D-0BD9-4BFEA3DF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287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13AEC-5BAD-D1FB-A06D-DEA04E7F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478B8A-F29F-3E53-7C6A-ACC9682EE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4082B3-BE3E-E8C9-9BD7-C6C8CE28F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79E042-544D-0D6A-0ADF-0564D2FCD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7D772-6E1D-44AC-31E9-36990B31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33E9F9-E702-D949-3BE4-815AA3CD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77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74992-1074-1ACC-8982-0F569DF8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2E2B74-4FB1-4A0D-A405-B129B3E6E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A9490E-FB3F-789D-0BFB-48E56ADE9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CF53B-09C9-DB49-3936-AA95609C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E3626C-CDA0-CEA0-8028-998E3208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95FB02-4472-924E-E364-E7C1F916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97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085B1-495E-BEBE-23B4-A5C34FFB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1F8023-EF60-E32E-CD82-5B7C7E518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4BFA94-76F4-C295-EFA9-0246B5AE4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0153F-929F-C86A-24EC-DA3FD44B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CDE87E-596A-30E9-6B87-3E2D98532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67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DFB8B9D-2B30-8414-DA4B-A62EC3740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73EC20-F496-E898-A328-2AF4F2101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47E55-F3D8-9EBB-1E5A-3A3E24DE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434C55-9BC5-80C2-6BA9-B05CE33C6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3FF043-FE92-6369-0A6C-87C3854B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38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777A2C-7797-986D-95E6-50BBF1F6A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2994C9-48C5-A0CC-7CAC-7F919336A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24F1B-1138-A825-4EE9-7B57E7042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852B9-6D55-498C-B15E-79DB98A8E2B6}" type="datetimeFigureOut">
              <a:rPr lang="zh-CN" altLang="en-US" smtClean="0"/>
              <a:t>2026/1/23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3FC767-752C-EFAB-5D18-2B7E235C2A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EFE21-8C06-D19F-AEF1-E1A5216F1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40C86-B099-4503-ACA8-E2AADB1C54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50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8AE580E6-182B-1C4C-4904-44DCD7A8CF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850448"/>
              </p:ext>
            </p:extLst>
          </p:nvPr>
        </p:nvGraphicFramePr>
        <p:xfrm>
          <a:off x="410134" y="551578"/>
          <a:ext cx="11214847" cy="6030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8865B8C-D0E8-BA17-27D7-8F4DCA06E666}"/>
              </a:ext>
            </a:extLst>
          </p:cNvPr>
          <p:cNvSpPr txBox="1"/>
          <p:nvPr/>
        </p:nvSpPr>
        <p:spPr>
          <a:xfrm>
            <a:off x="5638800" y="2971800"/>
            <a:ext cx="65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2811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B3B600A-1CB9-5E4D-1240-F0D00AA58B1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1497" y="191842"/>
            <a:ext cx="10831589" cy="6579198"/>
            <a:chOff x="644839" y="784945"/>
            <a:chExt cx="10831589" cy="6579198"/>
          </a:xfrm>
        </p:grpSpPr>
        <p:sp>
          <p:nvSpPr>
            <p:cNvPr id="5" name="0">
              <a:extLst>
                <a:ext uri="{FF2B5EF4-FFF2-40B4-BE49-F238E27FC236}">
                  <a16:creationId xmlns:a16="http://schemas.microsoft.com/office/drawing/2014/main" id="{337651D3-8814-A1FF-53AD-ABF9CCA63D23}"/>
                </a:ext>
              </a:extLst>
            </p:cNvPr>
            <p:cNvSpPr/>
            <p:nvPr/>
          </p:nvSpPr>
          <p:spPr>
            <a:xfrm>
              <a:off x="5299119" y="1117600"/>
              <a:ext cx="1523029" cy="5745257"/>
            </a:xfrm>
            <a:custGeom>
              <a:avLst/>
              <a:gdLst>
                <a:gd name="connsiteX0" fmla="*/ 1390302 w 1390173"/>
                <a:gd name="connsiteY0" fmla="*/ 4791942 h 4791941"/>
                <a:gd name="connsiteX1" fmla="*/ 129 w 1390173"/>
                <a:gd name="connsiteY1" fmla="*/ 4791942 h 4791941"/>
                <a:gd name="connsiteX2" fmla="*/ 450949 w 1390173"/>
                <a:gd name="connsiteY2" fmla="*/ 3239494 h 4791941"/>
                <a:gd name="connsiteX3" fmla="*/ 450949 w 1390173"/>
                <a:gd name="connsiteY3" fmla="*/ 2834380 h 4791941"/>
                <a:gd name="connsiteX4" fmla="*/ 450949 w 1390173"/>
                <a:gd name="connsiteY4" fmla="*/ 182423 h 4791941"/>
                <a:gd name="connsiteX5" fmla="*/ 679821 w 1390173"/>
                <a:gd name="connsiteY5" fmla="*/ 0 h 4791941"/>
                <a:gd name="connsiteX6" fmla="*/ 908693 w 1390173"/>
                <a:gd name="connsiteY6" fmla="*/ 182423 h 4791941"/>
                <a:gd name="connsiteX7" fmla="*/ 908693 w 1390173"/>
                <a:gd name="connsiteY7" fmla="*/ 2834380 h 4791941"/>
                <a:gd name="connsiteX8" fmla="*/ 908693 w 1390173"/>
                <a:gd name="connsiteY8" fmla="*/ 3243544 h 4791941"/>
                <a:gd name="connsiteX9" fmla="*/ 1390302 w 1390173"/>
                <a:gd name="connsiteY9" fmla="*/ 4791942 h 4791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90173" h="4791941">
                  <a:moveTo>
                    <a:pt x="1390302" y="4791942"/>
                  </a:moveTo>
                  <a:lnTo>
                    <a:pt x="129" y="4791942"/>
                  </a:lnTo>
                  <a:cubicBezTo>
                    <a:pt x="129" y="4791942"/>
                    <a:pt x="450949" y="4327586"/>
                    <a:pt x="450949" y="3239494"/>
                  </a:cubicBezTo>
                  <a:lnTo>
                    <a:pt x="450949" y="2834380"/>
                  </a:lnTo>
                  <a:lnTo>
                    <a:pt x="450949" y="182423"/>
                  </a:lnTo>
                  <a:lnTo>
                    <a:pt x="679821" y="0"/>
                  </a:lnTo>
                  <a:lnTo>
                    <a:pt x="908693" y="182423"/>
                  </a:lnTo>
                  <a:lnTo>
                    <a:pt x="908693" y="2834380"/>
                  </a:lnTo>
                  <a:lnTo>
                    <a:pt x="908693" y="3243544"/>
                  </a:lnTo>
                  <a:cubicBezTo>
                    <a:pt x="908693" y="4351855"/>
                    <a:pt x="1390302" y="4791942"/>
                    <a:pt x="1390302" y="4791942"/>
                  </a:cubicBezTo>
                </a:path>
              </a:pathLst>
            </a:custGeom>
            <a:gradFill flip="none" rotWithShape="1">
              <a:gsLst>
                <a:gs pos="100000">
                  <a:schemeClr val="accent1">
                    <a:lumMod val="40000"/>
                    <a:lumOff val="60000"/>
                  </a:schemeClr>
                </a:gs>
                <a:gs pos="60000">
                  <a:schemeClr val="accent1">
                    <a:lumMod val="100000"/>
                  </a:schemeClr>
                </a:gs>
              </a:gsLst>
              <a:lin ang="54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Regular" panose="020B0500000000000000" charset="-122"/>
                <a:cs typeface="思源黑体 CN Regular" panose="020B0500000000000000" charset="-122"/>
              </a:endParaRPr>
            </a:p>
          </p:txBody>
        </p:sp>
        <p:sp>
          <p:nvSpPr>
            <p:cNvPr id="6" name="0">
              <a:extLst>
                <a:ext uri="{FF2B5EF4-FFF2-40B4-BE49-F238E27FC236}">
                  <a16:creationId xmlns:a16="http://schemas.microsoft.com/office/drawing/2014/main" id="{E4A2336C-BF66-4735-17DB-7073FEAC1F30}"/>
                </a:ext>
              </a:extLst>
            </p:cNvPr>
            <p:cNvSpPr/>
            <p:nvPr/>
          </p:nvSpPr>
          <p:spPr>
            <a:xfrm>
              <a:off x="3958143" y="3026730"/>
              <a:ext cx="1778976" cy="3836127"/>
            </a:xfrm>
            <a:custGeom>
              <a:avLst/>
              <a:gdLst>
                <a:gd name="connsiteX0" fmla="*/ 1171308 w 1623793"/>
                <a:gd name="connsiteY0" fmla="*/ 3199595 h 3199595"/>
                <a:gd name="connsiteX1" fmla="*/ 0 w 1623793"/>
                <a:gd name="connsiteY1" fmla="*/ 3199595 h 3199595"/>
                <a:gd name="connsiteX2" fmla="*/ 932184 w 1623793"/>
                <a:gd name="connsiteY2" fmla="*/ 2556448 h 3199595"/>
                <a:gd name="connsiteX3" fmla="*/ 1166051 w 1623793"/>
                <a:gd name="connsiteY3" fmla="*/ 1926476 h 3199595"/>
                <a:gd name="connsiteX4" fmla="*/ 1166051 w 1623793"/>
                <a:gd name="connsiteY4" fmla="*/ 182423 h 3199595"/>
                <a:gd name="connsiteX5" fmla="*/ 1394927 w 1623793"/>
                <a:gd name="connsiteY5" fmla="*/ 0 h 3199595"/>
                <a:gd name="connsiteX6" fmla="*/ 1623794 w 1623793"/>
                <a:gd name="connsiteY6" fmla="*/ 182423 h 3199595"/>
                <a:gd name="connsiteX7" fmla="*/ 1623794 w 1623793"/>
                <a:gd name="connsiteY7" fmla="*/ 1926476 h 3199595"/>
                <a:gd name="connsiteX8" fmla="*/ 1440018 w 1623793"/>
                <a:gd name="connsiteY8" fmla="*/ 2723661 h 3199595"/>
                <a:gd name="connsiteX9" fmla="*/ 1171308 w 1623793"/>
                <a:gd name="connsiteY9" fmla="*/ 3199595 h 3199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3793" h="3199595">
                  <a:moveTo>
                    <a:pt x="1171308" y="3199595"/>
                  </a:moveTo>
                  <a:lnTo>
                    <a:pt x="0" y="3199595"/>
                  </a:lnTo>
                  <a:cubicBezTo>
                    <a:pt x="0" y="3199595"/>
                    <a:pt x="580836" y="3065882"/>
                    <a:pt x="932184" y="2556448"/>
                  </a:cubicBezTo>
                  <a:cubicBezTo>
                    <a:pt x="1146991" y="2244989"/>
                    <a:pt x="1166051" y="1926476"/>
                    <a:pt x="1166051" y="1926476"/>
                  </a:cubicBezTo>
                  <a:lnTo>
                    <a:pt x="1166051" y="182423"/>
                  </a:lnTo>
                  <a:lnTo>
                    <a:pt x="1394927" y="0"/>
                  </a:lnTo>
                  <a:lnTo>
                    <a:pt x="1623794" y="182423"/>
                  </a:lnTo>
                  <a:lnTo>
                    <a:pt x="1623794" y="1926476"/>
                  </a:lnTo>
                  <a:cubicBezTo>
                    <a:pt x="1623794" y="1926476"/>
                    <a:pt x="1597943" y="2336875"/>
                    <a:pt x="1440018" y="2723661"/>
                  </a:cubicBezTo>
                  <a:cubicBezTo>
                    <a:pt x="1321870" y="3013047"/>
                    <a:pt x="1171308" y="3199595"/>
                    <a:pt x="1171308" y="3199595"/>
                  </a:cubicBezTo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Regular" panose="020B0500000000000000" charset="-122"/>
                <a:cs typeface="思源黑体 CN Regular" panose="020B0500000000000000" charset="-122"/>
              </a:endParaRPr>
            </a:p>
          </p:txBody>
        </p:sp>
        <p:sp>
          <p:nvSpPr>
            <p:cNvPr id="7" name="0">
              <a:extLst>
                <a:ext uri="{FF2B5EF4-FFF2-40B4-BE49-F238E27FC236}">
                  <a16:creationId xmlns:a16="http://schemas.microsoft.com/office/drawing/2014/main" id="{3A12E7B6-E408-426D-912B-BB76740B46B2}"/>
                </a:ext>
              </a:extLst>
            </p:cNvPr>
            <p:cNvSpPr/>
            <p:nvPr/>
          </p:nvSpPr>
          <p:spPr>
            <a:xfrm>
              <a:off x="6353281" y="2042277"/>
              <a:ext cx="1778976" cy="4820580"/>
            </a:xfrm>
            <a:custGeom>
              <a:avLst/>
              <a:gdLst>
                <a:gd name="connsiteX0" fmla="*/ 490725 w 1623793"/>
                <a:gd name="connsiteY0" fmla="*/ 4020779 h 4020697"/>
                <a:gd name="connsiteX1" fmla="*/ 1624023 w 1623793"/>
                <a:gd name="connsiteY1" fmla="*/ 4020779 h 4020697"/>
                <a:gd name="connsiteX2" fmla="*/ 691842 w 1623793"/>
                <a:gd name="connsiteY2" fmla="*/ 3377631 h 4020697"/>
                <a:gd name="connsiteX3" fmla="*/ 457976 w 1623793"/>
                <a:gd name="connsiteY3" fmla="*/ 2747660 h 4020697"/>
                <a:gd name="connsiteX4" fmla="*/ 457976 w 1623793"/>
                <a:gd name="connsiteY4" fmla="*/ 182504 h 4020697"/>
                <a:gd name="connsiteX5" fmla="*/ 229101 w 1623793"/>
                <a:gd name="connsiteY5" fmla="*/ 81 h 4020697"/>
                <a:gd name="connsiteX6" fmla="*/ 230 w 1623793"/>
                <a:gd name="connsiteY6" fmla="*/ 182504 h 4020697"/>
                <a:gd name="connsiteX7" fmla="*/ 230 w 1623793"/>
                <a:gd name="connsiteY7" fmla="*/ 2747660 h 4020697"/>
                <a:gd name="connsiteX8" fmla="*/ 161145 w 1623793"/>
                <a:gd name="connsiteY8" fmla="*/ 3492313 h 4020697"/>
                <a:gd name="connsiteX9" fmla="*/ 490725 w 1623793"/>
                <a:gd name="connsiteY9" fmla="*/ 4020779 h 4020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3793" h="4020697">
                  <a:moveTo>
                    <a:pt x="490725" y="4020779"/>
                  </a:moveTo>
                  <a:lnTo>
                    <a:pt x="1624023" y="4020779"/>
                  </a:lnTo>
                  <a:cubicBezTo>
                    <a:pt x="1624023" y="4020779"/>
                    <a:pt x="1043188" y="3887065"/>
                    <a:pt x="691842" y="3377631"/>
                  </a:cubicBezTo>
                  <a:cubicBezTo>
                    <a:pt x="477034" y="3066172"/>
                    <a:pt x="457976" y="2747660"/>
                    <a:pt x="457976" y="2747660"/>
                  </a:cubicBezTo>
                  <a:lnTo>
                    <a:pt x="457976" y="182504"/>
                  </a:lnTo>
                  <a:lnTo>
                    <a:pt x="229101" y="81"/>
                  </a:lnTo>
                  <a:lnTo>
                    <a:pt x="230" y="182504"/>
                  </a:lnTo>
                  <a:lnTo>
                    <a:pt x="230" y="2747660"/>
                  </a:lnTo>
                  <a:cubicBezTo>
                    <a:pt x="230" y="2747660"/>
                    <a:pt x="16186" y="3120291"/>
                    <a:pt x="161145" y="3492313"/>
                  </a:cubicBezTo>
                  <a:cubicBezTo>
                    <a:pt x="274629" y="3783553"/>
                    <a:pt x="490725" y="4020779"/>
                    <a:pt x="490725" y="4020779"/>
                  </a:cubicBezTo>
                </a:path>
              </a:pathLst>
            </a:custGeom>
            <a:gradFill>
              <a:gsLst>
                <a:gs pos="100000">
                  <a:schemeClr val="accent1">
                    <a:lumMod val="20000"/>
                    <a:lumOff val="80000"/>
                  </a:schemeClr>
                </a:gs>
                <a:gs pos="50000">
                  <a:schemeClr val="accent1">
                    <a:lumMod val="60000"/>
                    <a:lumOff val="40000"/>
                  </a:schemeClr>
                </a:gs>
              </a:gsLst>
              <a:lin ang="5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Regular" panose="020B0500000000000000" charset="-122"/>
                <a:cs typeface="思源黑体 CN Regular" panose="020B0500000000000000" charset="-122"/>
              </a:endParaRPr>
            </a:p>
          </p:txBody>
        </p:sp>
        <p:cxnSp>
          <p:nvCxnSpPr>
            <p:cNvPr id="8" name="0">
              <a:extLst>
                <a:ext uri="{FF2B5EF4-FFF2-40B4-BE49-F238E27FC236}">
                  <a16:creationId xmlns:a16="http://schemas.microsoft.com/office/drawing/2014/main" id="{5E0B045F-D61C-BABB-EC7E-7A9A065E5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7362" y="4552103"/>
              <a:ext cx="1008948" cy="8264"/>
            </a:xfrm>
            <a:prstGeom prst="line">
              <a:avLst/>
            </a:prstGeom>
            <a:ln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0">
              <a:extLst>
                <a:ext uri="{FF2B5EF4-FFF2-40B4-BE49-F238E27FC236}">
                  <a16:creationId xmlns:a16="http://schemas.microsoft.com/office/drawing/2014/main" id="{D9AAC15C-1DC1-2F97-81C9-1C694EE143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0346" y="2928137"/>
              <a:ext cx="1275198" cy="0"/>
            </a:xfrm>
            <a:prstGeom prst="line">
              <a:avLst/>
            </a:prstGeom>
            <a:ln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0">
              <a:extLst>
                <a:ext uri="{FF2B5EF4-FFF2-40B4-BE49-F238E27FC236}">
                  <a16:creationId xmlns:a16="http://schemas.microsoft.com/office/drawing/2014/main" id="{F5E1E4BE-2187-891D-1A79-E1BF073B934E}"/>
                </a:ext>
              </a:extLst>
            </p:cNvPr>
            <p:cNvCxnSpPr/>
            <p:nvPr/>
          </p:nvCxnSpPr>
          <p:spPr>
            <a:xfrm flipH="1">
              <a:off x="4468273" y="5162362"/>
              <a:ext cx="771419" cy="0"/>
            </a:xfrm>
            <a:prstGeom prst="line">
              <a:avLst/>
            </a:prstGeom>
            <a:ln>
              <a:prstDash val="dash"/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">
              <a:extLst>
                <a:ext uri="{FF2B5EF4-FFF2-40B4-BE49-F238E27FC236}">
                  <a16:creationId xmlns:a16="http://schemas.microsoft.com/office/drawing/2014/main" id="{09B9FB4A-C7FD-B082-9BC0-178FC1746975}"/>
                </a:ext>
              </a:extLst>
            </p:cNvPr>
            <p:cNvGrpSpPr/>
            <p:nvPr/>
          </p:nvGrpSpPr>
          <p:grpSpPr>
            <a:xfrm>
              <a:off x="644839" y="784945"/>
              <a:ext cx="3366084" cy="3160297"/>
              <a:chOff x="636414" y="-78655"/>
              <a:chExt cx="3366084" cy="3160297"/>
            </a:xfrm>
          </p:grpSpPr>
          <p:sp>
            <p:nvSpPr>
              <p:cNvPr id="22" name="1">
                <a:extLst>
                  <a:ext uri="{FF2B5EF4-FFF2-40B4-BE49-F238E27FC236}">
                    <a16:creationId xmlns:a16="http://schemas.microsoft.com/office/drawing/2014/main" id="{98F4596C-1F92-21BA-4F45-4FD5AF8EA017}"/>
                  </a:ext>
                </a:extLst>
              </p:cNvPr>
              <p:cNvSpPr/>
              <p:nvPr/>
            </p:nvSpPr>
            <p:spPr>
              <a:xfrm>
                <a:off x="636414" y="-78655"/>
                <a:ext cx="3366084" cy="3160297"/>
              </a:xfrm>
              <a:prstGeom prst="roundRect">
                <a:avLst>
                  <a:gd name="adj" fmla="val 12252"/>
                </a:avLst>
              </a:prstGeom>
              <a:gradFill>
                <a:gsLst>
                  <a:gs pos="0">
                    <a:schemeClr val="bg1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1">
                <a:extLst>
                  <a:ext uri="{FF2B5EF4-FFF2-40B4-BE49-F238E27FC236}">
                    <a16:creationId xmlns:a16="http://schemas.microsoft.com/office/drawing/2014/main" id="{F66C53FE-96E6-F598-B4BA-E369CD6E179C}"/>
                  </a:ext>
                </a:extLst>
              </p:cNvPr>
              <p:cNvSpPr/>
              <p:nvPr/>
            </p:nvSpPr>
            <p:spPr>
              <a:xfrm>
                <a:off x="772853" y="37633"/>
                <a:ext cx="3183687" cy="382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0000">
                    <a:schemeClr val="accent1"/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4" name="Title-1">
                <a:extLst>
                  <a:ext uri="{FF2B5EF4-FFF2-40B4-BE49-F238E27FC236}">
                    <a16:creationId xmlns:a16="http://schemas.microsoft.com/office/drawing/2014/main" id="{E8D260A3-E9EC-4C54-94CB-35C92A349D7C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356033" y="35739"/>
                <a:ext cx="1879508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Risk Cost 40%</a:t>
                </a:r>
                <a:endParaRPr lang="en-US" altLang="zh-CN" dirty="0">
                  <a:solidFill>
                    <a:schemeClr val="bg1"/>
                  </a:solidFill>
                </a:endParaRPr>
              </a:p>
              <a:p>
                <a:pPr algn="ctr"/>
                <a:endParaRPr lang="zh-CN" altLang="en-US" b="1" dirty="0">
                  <a:solidFill>
                    <a:schemeClr val="bg1"/>
                  </a:solidFill>
                  <a:latin typeface="+mj-ea"/>
                  <a:ea typeface="+mj-ea"/>
                  <a:cs typeface="Arial" panose="020B0604020202020204" pitchFamily="34" charset="0"/>
                </a:endParaRPr>
              </a:p>
            </p:txBody>
          </p:sp>
          <p:sp>
            <p:nvSpPr>
              <p:cNvPr id="25" name="Body-1">
                <a:extLst>
                  <a:ext uri="{FF2B5EF4-FFF2-40B4-BE49-F238E27FC236}">
                    <a16:creationId xmlns:a16="http://schemas.microsoft.com/office/drawing/2014/main" id="{983459F8-996E-7CC1-261C-A8ED59613A87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18387" y="1659289"/>
                <a:ext cx="3092621" cy="382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2" name="组合 2">
              <a:extLst>
                <a:ext uri="{FF2B5EF4-FFF2-40B4-BE49-F238E27FC236}">
                  <a16:creationId xmlns:a16="http://schemas.microsoft.com/office/drawing/2014/main" id="{DA57ACC0-5F5E-C560-FF9F-9580F8EA058D}"/>
                </a:ext>
              </a:extLst>
            </p:cNvPr>
            <p:cNvGrpSpPr/>
            <p:nvPr/>
          </p:nvGrpSpPr>
          <p:grpSpPr>
            <a:xfrm>
              <a:off x="8110344" y="3536809"/>
              <a:ext cx="3366084" cy="2929046"/>
              <a:chOff x="624280" y="1708009"/>
              <a:chExt cx="3366084" cy="2929046"/>
            </a:xfrm>
          </p:grpSpPr>
          <p:sp>
            <p:nvSpPr>
              <p:cNvPr id="18" name="2">
                <a:extLst>
                  <a:ext uri="{FF2B5EF4-FFF2-40B4-BE49-F238E27FC236}">
                    <a16:creationId xmlns:a16="http://schemas.microsoft.com/office/drawing/2014/main" id="{A17B7498-103B-2C76-B13A-D162258BDD95}"/>
                  </a:ext>
                </a:extLst>
              </p:cNvPr>
              <p:cNvSpPr/>
              <p:nvPr/>
            </p:nvSpPr>
            <p:spPr>
              <a:xfrm>
                <a:off x="624280" y="1708009"/>
                <a:ext cx="3366084" cy="2929046"/>
              </a:xfrm>
              <a:prstGeom prst="roundRect">
                <a:avLst>
                  <a:gd name="adj" fmla="val 12252"/>
                </a:avLst>
              </a:prstGeom>
              <a:gradFill>
                <a:gsLst>
                  <a:gs pos="0">
                    <a:schemeClr val="bg1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2">
                <a:extLst>
                  <a:ext uri="{FF2B5EF4-FFF2-40B4-BE49-F238E27FC236}">
                    <a16:creationId xmlns:a16="http://schemas.microsoft.com/office/drawing/2014/main" id="{BBE3E706-91DB-966C-6CB3-76A6ADCD3D48}"/>
                  </a:ext>
                </a:extLst>
              </p:cNvPr>
              <p:cNvSpPr/>
              <p:nvPr/>
            </p:nvSpPr>
            <p:spPr>
              <a:xfrm>
                <a:off x="890428" y="1810725"/>
                <a:ext cx="2855700" cy="382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0000">
                    <a:schemeClr val="accent1"/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20" name="Title-2">
                <a:extLst>
                  <a:ext uri="{FF2B5EF4-FFF2-40B4-BE49-F238E27FC236}">
                    <a16:creationId xmlns:a16="http://schemas.microsoft.com/office/drawing/2014/main" id="{FBAA6F5B-7967-9DAC-A09F-F0ED5E01CA3A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107086" y="1810726"/>
                <a:ext cx="2275631" cy="38257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Shutdown Cost 35%</a:t>
                </a:r>
                <a:r>
                  <a:rPr lang="en-US" altLang="zh-CN" dirty="0">
                    <a:solidFill>
                      <a:schemeClr val="bg1"/>
                    </a:solidFill>
                  </a:rPr>
                  <a:t> </a:t>
                </a:r>
              </a:p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+mj-ea"/>
                    <a:ea typeface="+mj-ea"/>
                    <a:cs typeface="Arial" panose="020B0604020202020204" pitchFamily="34" charset="0"/>
                  </a:rPr>
                  <a:t> </a:t>
                </a:r>
              </a:p>
            </p:txBody>
          </p:sp>
        </p:grpSp>
        <p:grpSp>
          <p:nvGrpSpPr>
            <p:cNvPr id="13" name="组合 3">
              <a:extLst>
                <a:ext uri="{FF2B5EF4-FFF2-40B4-BE49-F238E27FC236}">
                  <a16:creationId xmlns:a16="http://schemas.microsoft.com/office/drawing/2014/main" id="{113BAE0B-E4C2-3C5C-57A9-507ED25E4BF1}"/>
                </a:ext>
              </a:extLst>
            </p:cNvPr>
            <p:cNvGrpSpPr/>
            <p:nvPr/>
          </p:nvGrpSpPr>
          <p:grpSpPr>
            <a:xfrm>
              <a:off x="666752" y="3976794"/>
              <a:ext cx="3366084" cy="3387349"/>
              <a:chOff x="660401" y="1139726"/>
              <a:chExt cx="3366084" cy="3387349"/>
            </a:xfrm>
          </p:grpSpPr>
          <p:sp>
            <p:nvSpPr>
              <p:cNvPr id="14" name="3">
                <a:extLst>
                  <a:ext uri="{FF2B5EF4-FFF2-40B4-BE49-F238E27FC236}">
                    <a16:creationId xmlns:a16="http://schemas.microsoft.com/office/drawing/2014/main" id="{7A14EA4A-5AE1-5F1B-B24B-FF6190AA2A95}"/>
                  </a:ext>
                </a:extLst>
              </p:cNvPr>
              <p:cNvSpPr/>
              <p:nvPr/>
            </p:nvSpPr>
            <p:spPr>
              <a:xfrm>
                <a:off x="660401" y="1139726"/>
                <a:ext cx="3366084" cy="3387349"/>
              </a:xfrm>
              <a:prstGeom prst="roundRect">
                <a:avLst>
                  <a:gd name="adj" fmla="val 12252"/>
                </a:avLst>
              </a:prstGeom>
              <a:gradFill>
                <a:gsLst>
                  <a:gs pos="0">
                    <a:schemeClr val="bg1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3">
                <a:extLst>
                  <a:ext uri="{FF2B5EF4-FFF2-40B4-BE49-F238E27FC236}">
                    <a16:creationId xmlns:a16="http://schemas.microsoft.com/office/drawing/2014/main" id="{B96F4493-71B1-7D5F-E13C-4EC6375B7D41}"/>
                  </a:ext>
                </a:extLst>
              </p:cNvPr>
              <p:cNvSpPr/>
              <p:nvPr/>
            </p:nvSpPr>
            <p:spPr>
              <a:xfrm>
                <a:off x="738391" y="1254313"/>
                <a:ext cx="3183687" cy="38257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0000">
                    <a:schemeClr val="accent1"/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13500000" scaled="1"/>
              </a:gradFill>
              <a:ln>
                <a:noFill/>
              </a:ln>
              <a:effectLst>
                <a:outerShdw blurRad="50800" dist="38100" dir="2700000" algn="tl" rotWithShape="0">
                  <a:schemeClr val="accent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sp>
            <p:nvSpPr>
              <p:cNvPr id="16" name="Title-3">
                <a:extLst>
                  <a:ext uri="{FF2B5EF4-FFF2-40B4-BE49-F238E27FC236}">
                    <a16:creationId xmlns:a16="http://schemas.microsoft.com/office/drawing/2014/main" id="{0AAEF48F-B53E-512C-647C-C6F9DBFD6649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2" y="1245160"/>
                <a:ext cx="3366083" cy="36933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</a:rPr>
                  <a:t>Water Supply Loss Cost 25%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720A61E-E3D4-9155-F14D-228839A4C6D4}"/>
                  </a:ext>
                </a:extLst>
              </p:cNvPr>
              <p:cNvSpPr txBox="1"/>
              <p:nvPr/>
            </p:nvSpPr>
            <p:spPr>
              <a:xfrm>
                <a:off x="658500" y="607372"/>
                <a:ext cx="3257168" cy="2644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400" b="1" i="1" dirty="0">
                    <a:latin typeface="Cambria Math" panose="02040503050406030204" pitchFamily="18" charset="0"/>
                  </a:rPr>
                  <a:t>           Risk Cost </a:t>
                </a:r>
                <a:r>
                  <a:rPr lang="en-US" altLang="zh-CN" sz="1400" b="1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𝒓𝒊𝒔𝒌</m:t>
                        </m:r>
                      </m:sub>
                    </m:sSub>
                  </m:oMath>
                </a14:m>
                <a:r>
                  <a:rPr lang="en-US" altLang="zh-CN" sz="1400" b="1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𝒓𝒊𝒔𝒌</m:t>
                        </m:r>
                      </m:sub>
                    </m:sSub>
                  </m:oMath>
                </a14:m>
                <a:endParaRPr lang="en-US" altLang="zh-CN" sz="1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1400">
                            <a:latin typeface="+mn-ea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400">
                            <a:latin typeface="+mn-ea"/>
                          </a:rPr>
                          <m:t>risk</m:t>
                        </m:r>
                      </m:sub>
                    </m:sSub>
                    <m:r>
                      <a:rPr kumimoji="1" lang="en-US" altLang="zh-CN" sz="1400">
                        <a:latin typeface="+mn-ea"/>
                      </a:rPr>
                      <m:t> </m:t>
                    </m:r>
                  </m:oMath>
                </a14:m>
                <a:r>
                  <a:rPr kumimoji="1" lang="en-US" altLang="zh-CN" sz="1400" dirty="0">
                    <a:latin typeface="+mn-ea"/>
                  </a:rPr>
                  <a:t>= 50000/hour (unit hourly risk cost),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dirty="0">
                            <a:latin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zh-CN" sz="1400" dirty="0">
                            <a:latin typeface="+mn-ea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1" lang="en-US" altLang="zh-CN" sz="1400" dirty="0">
                            <a:latin typeface="+mn-ea"/>
                          </a:rPr>
                          <m:t>risk</m:t>
                        </m:r>
                      </m:sub>
                    </m:sSub>
                  </m:oMath>
                </a14:m>
                <a:r>
                  <a:rPr kumimoji="1" lang="en-US" altLang="zh-CN" sz="1400" dirty="0">
                    <a:latin typeface="+mn-ea"/>
                  </a:rPr>
                  <a:t>(total risk duration, in hours). 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</a:rPr>
                  <a:t>This cost is only incurred when the decision is open (decision = 0) and the pollutant concentration is higher than the threshold (Concentration &gt; 0.3\ mg/L). </a:t>
                </a:r>
                <a:endParaRPr lang="en-US" altLang="zh-CN" sz="1400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720A61E-E3D4-9155-F14D-228839A4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00" y="607372"/>
                <a:ext cx="3257168" cy="2644827"/>
              </a:xfrm>
              <a:prstGeom prst="rect">
                <a:avLst/>
              </a:prstGeom>
              <a:blipFill>
                <a:blip r:embed="rId8"/>
                <a:stretch>
                  <a:fillRect l="-562" b="-1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>
            <a:extLst>
              <a:ext uri="{FF2B5EF4-FFF2-40B4-BE49-F238E27FC236}">
                <a16:creationId xmlns:a16="http://schemas.microsoft.com/office/drawing/2014/main" id="{96AC9488-A66E-7528-7B50-1EEC0E3F5D86}"/>
              </a:ext>
            </a:extLst>
          </p:cNvPr>
          <p:cNvSpPr txBox="1"/>
          <p:nvPr/>
        </p:nvSpPr>
        <p:spPr>
          <a:xfrm>
            <a:off x="6362644" y="1651044"/>
            <a:ext cx="708826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sz="1600" b="1" dirty="0"/>
              <a:t>Total Objective Cost =</a:t>
            </a:r>
          </a:p>
          <a:p>
            <a:r>
              <a:rPr lang="en-US" altLang="zh-CN" sz="1600" b="1" dirty="0"/>
              <a:t> 0.35*Shutdown Cost 0.25*Supply Loss Cost + 0.40*Risk Cost</a:t>
            </a:r>
            <a:endParaRPr lang="zh-CN" altLang="en-US" sz="1600" b="1" dirty="0"/>
          </a:p>
          <a:p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086DADB-4CA3-E45C-DADA-286E91AA9653}"/>
              </a:ext>
            </a:extLst>
          </p:cNvPr>
          <p:cNvSpPr txBox="1"/>
          <p:nvPr/>
        </p:nvSpPr>
        <p:spPr>
          <a:xfrm>
            <a:off x="6417733" y="363847"/>
            <a:ext cx="533690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Total Objective Cost Optimization Model -- Construction of Weighted Objective Function</a:t>
            </a:r>
          </a:p>
          <a:p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Body-2">
                <a:extLst>
                  <a:ext uri="{FF2B5EF4-FFF2-40B4-BE49-F238E27FC236}">
                    <a16:creationId xmlns:a16="http://schemas.microsoft.com/office/drawing/2014/main" id="{F5F25BEE-570E-4BA1-8B43-2C8D933EB8D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8058915" y="3498278"/>
                <a:ext cx="3427133" cy="23120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𝑺𝒉𝒖𝒕𝒅𝒐𝒘𝒏</m:t>
                        </m:r>
                        <m:r>
                          <m:rPr>
                            <m:lit/>
                          </m:rP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400" b="1" i="1" dirty="0">
                            <a:latin typeface="Cambria Math" panose="02040503050406030204" pitchFamily="18" charset="0"/>
                          </a:rPr>
                          <m:t>𝑪𝒐𝒔𝒕</m:t>
                        </m:r>
                        <m:r>
                          <a:rPr lang="en-US" altLang="zh-CN" sz="1400" b="1" i="1" dirty="0" smtClean="0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𝑪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𝒔𝒉𝒖𝒕𝒅𝒐𝒘𝒏</m:t>
                        </m:r>
                      </m:sub>
                    </m:sSub>
                  </m:oMath>
                </a14:m>
                <a:r>
                  <a:rPr kumimoji="1" lang="en-US" altLang="zh-CN" sz="1400" b="1" dirty="0">
                    <a:latin typeface="+mn-ea"/>
                    <a:sym typeface="Arial" panose="020B0604020202020204" pitchFamily="34" charset="0"/>
                  </a:rPr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dirty="0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1" lang="en-US" altLang="zh-CN" sz="1400" b="1" i="1" dirty="0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𝑻</m:t>
                        </m:r>
                      </m:e>
                      <m:sub>
                        <m:r>
                          <a:rPr kumimoji="1" lang="en-US" altLang="zh-CN" sz="1400" b="1" i="1" dirty="0" smtClean="0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𝒔𝒉𝒖𝒕𝒅𝒐𝒘𝒏</m:t>
                        </m:r>
                      </m:sub>
                    </m:sSub>
                  </m:oMath>
                </a14:m>
                <a:endParaRPr kumimoji="1" lang="en-US" altLang="zh-CN" sz="1400" b="1" dirty="0">
                  <a:latin typeface="+mn-ea"/>
                  <a:sym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1" i="1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b="1" i="1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b="1" i="1">
                            <a:latin typeface="Cambria Math" panose="02040503050406030204" pitchFamily="18" charset="0"/>
                            <a:sym typeface="Arial" panose="020B0604020202020204" pitchFamily="34" charset="0"/>
                          </a:rPr>
                          <m:t>shutdown</m:t>
                        </m:r>
                      </m:sub>
                    </m:sSub>
                  </m:oMath>
                </a14:m>
                <a:r>
                  <a:rPr kumimoji="1" lang="en-US" altLang="zh-CN" sz="1400" dirty="0">
                    <a:latin typeface="+mn-ea"/>
                    <a:sym typeface="Arial" panose="020B0604020202020204" pitchFamily="34" charset="0"/>
                  </a:rPr>
                  <a:t>=80000/hour</a:t>
                </a:r>
                <a:r>
                  <a:rPr lang="en-US" altLang="zh-CN" sz="1400" dirty="0"/>
                  <a:t> (unit hourly shutdown cost),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400" i="1" dirty="0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zh-CN" sz="1400" i="1" dirty="0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1400" i="1" dirty="0">
                              <a:latin typeface="Cambria Math" panose="02040503050406030204" pitchFamily="18" charset="0"/>
                              <a:sym typeface="Arial" panose="020B0604020202020204" pitchFamily="34" charset="0"/>
                            </a:rPr>
                            <m:t>shutdown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1400"/>
                        <m:t>(</m:t>
                      </m:r>
                      <m:r>
                        <m:rPr>
                          <m:nor/>
                        </m:rPr>
                        <a:rPr lang="en-US" altLang="zh-CN" sz="1400"/>
                        <m:t>total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shutdown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duration</m:t>
                      </m:r>
                      <m:r>
                        <m:rPr>
                          <m:nor/>
                        </m:rPr>
                        <a:rPr lang="en-US" altLang="zh-CN" sz="1400"/>
                        <m:t>, </m:t>
                      </m:r>
                      <m:r>
                        <m:rPr>
                          <m:nor/>
                        </m:rPr>
                        <a:rPr lang="en-US" altLang="zh-CN" sz="1400"/>
                        <m:t>in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hours</m:t>
                      </m:r>
                      <m:r>
                        <m:rPr>
                          <m:nor/>
                        </m:rPr>
                        <a:rPr lang="en-US" altLang="zh-CN" sz="1400"/>
                        <m:t>).</m:t>
                      </m:r>
                      <m:r>
                        <m:rPr>
                          <m:nor/>
                        </m:rPr>
                        <a:rPr lang="en-US" altLang="zh-CN" sz="1400"/>
                        <m:t>This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cost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is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only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incurred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when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the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decision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is</m:t>
                      </m:r>
                      <m:r>
                        <m:rPr>
                          <m:nor/>
                        </m:rPr>
                        <a:rPr lang="en-US" altLang="zh-CN" sz="1400"/>
                        <m:t> </m:t>
                      </m:r>
                      <m:r>
                        <m:rPr>
                          <m:nor/>
                        </m:rPr>
                        <a:rPr lang="en-US" altLang="zh-CN" sz="1400"/>
                        <m:t>shutdown</m:t>
                      </m:r>
                      <m:r>
                        <m:rPr>
                          <m:nor/>
                        </m:rPr>
                        <a:rPr lang="en-US" altLang="zh-CN" sz="1400"/>
                        <m:t> (</m:t>
                      </m:r>
                      <m:r>
                        <m:rPr>
                          <m:nor/>
                        </m:rPr>
                        <a:rPr lang="en-US" altLang="zh-CN" sz="1400"/>
                        <m:t>decision</m:t>
                      </m:r>
                      <m:r>
                        <m:rPr>
                          <m:nor/>
                        </m:rPr>
                        <a:rPr lang="en-US" altLang="zh-CN" sz="1400"/>
                        <m:t> = 1).</m:t>
                      </m:r>
                    </m:oMath>
                  </m:oMathPara>
                </a14:m>
                <a:endParaRPr lang="en-US" altLang="zh-CN" sz="1400" dirty="0">
                  <a:effectLst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1400" dirty="0">
                  <a:latin typeface="+mn-ea"/>
                  <a:sym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1" name="Body-2">
                <a:extLst>
                  <a:ext uri="{FF2B5EF4-FFF2-40B4-BE49-F238E27FC236}">
                    <a16:creationId xmlns:a16="http://schemas.microsoft.com/office/drawing/2014/main" id="{F5F25BEE-570E-4BA1-8B43-2C8D933EB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8058915" y="3498278"/>
                <a:ext cx="3427133" cy="2312043"/>
              </a:xfrm>
              <a:prstGeom prst="rect">
                <a:avLst/>
              </a:prstGeom>
              <a:blipFill>
                <a:blip r:embed="rId9"/>
                <a:stretch>
                  <a:fillRect l="-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A5407B2-0475-5C51-63D0-2FEE130C5E84}"/>
                  </a:ext>
                </a:extLst>
              </p:cNvPr>
              <p:cNvSpPr txBox="1"/>
              <p:nvPr/>
            </p:nvSpPr>
            <p:spPr>
              <a:xfrm>
                <a:off x="521139" y="3890008"/>
                <a:ext cx="3506437" cy="30653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b="1" i="1" dirty="0">
                    <a:latin typeface="Cambria Math" panose="02040503050406030204" pitchFamily="18" charset="0"/>
                  </a:rPr>
                  <a:t>        S </a:t>
                </a:r>
                <a:r>
                  <a:rPr kumimoji="1" lang="en-US" altLang="zh-CN" sz="1400" b="1" i="1" dirty="0" err="1">
                    <a:latin typeface="Cambria Math" panose="02040503050406030204" pitchFamily="18" charset="0"/>
                  </a:rPr>
                  <a:t>upply</a:t>
                </a:r>
                <a:r>
                  <a:rPr kumimoji="1" lang="en-US" altLang="zh-CN" sz="1400" b="1" i="1" dirty="0">
                    <a:latin typeface="Cambria Math" panose="02040503050406030204" pitchFamily="18" charset="0"/>
                  </a:rPr>
                  <a:t> Loss Cost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  <m:t>𝒍𝒐𝒔𝒔</m:t>
                        </m:r>
                      </m:sub>
                    </m:sSub>
                  </m:oMath>
                </a14:m>
                <a:r>
                  <a:rPr kumimoji="1" lang="en-US" altLang="zh-CN" sz="1400" b="1" i="1" dirty="0">
                    <a:latin typeface="Cambria Math" panose="02040503050406030204" pitchFamily="18" charset="0"/>
                  </a:rPr>
                  <a:t>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kumimoji="1" lang="en-US" altLang="zh-CN" sz="1400" b="1" i="1">
                            <a:latin typeface="Cambria Math" panose="02040503050406030204" pitchFamily="18" charset="0"/>
                          </a:rPr>
                          <m:t>𝒍𝒐𝒔𝒔</m:t>
                        </m:r>
                      </m:sub>
                    </m:sSub>
                  </m:oMath>
                </a14:m>
                <a:endParaRPr kumimoji="1" lang="en-US" altLang="zh-CN" sz="14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>
                            <a:latin typeface="+mn-ea"/>
                          </a:rPr>
                        </m:ctrlPr>
                      </m:sSubPr>
                      <m:e>
                        <m:r>
                          <a:rPr kumimoji="1" lang="en-US" altLang="zh-CN" sz="1400">
                            <a:latin typeface="+mn-ea"/>
                          </a:rPr>
                          <m:t>𝐾</m:t>
                        </m:r>
                      </m:e>
                      <m:sub>
                        <m:r>
                          <a:rPr kumimoji="1" lang="en-US" altLang="zh-CN" sz="1400">
                            <a:latin typeface="+mn-ea"/>
                          </a:rPr>
                          <m:t>𝑙𝑜𝑠𝑠</m:t>
                        </m:r>
                      </m:sub>
                    </m:sSub>
                    <m:r>
                      <a:rPr kumimoji="1" lang="en-US" altLang="zh-CN" sz="1400">
                        <a:latin typeface="+mn-ea"/>
                      </a:rPr>
                      <m:t> </m:t>
                    </m:r>
                  </m:oMath>
                </a14:m>
                <a:r>
                  <a:rPr kumimoji="1" lang="en-US" altLang="zh-CN" sz="1400" dirty="0">
                    <a:latin typeface="+mn-ea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1400">
                            <a:latin typeface="+mn-ea"/>
                          </a:rPr>
                        </m:ctrlPr>
                      </m:sSupPr>
                      <m:e>
                        <m:r>
                          <a:rPr kumimoji="1" lang="en-US" altLang="zh-CN" sz="1400">
                            <a:latin typeface="+mn-ea"/>
                          </a:rPr>
                          <m:t>10</m:t>
                        </m:r>
                      </m:e>
                      <m:sup>
                        <m:r>
                          <a:rPr kumimoji="1" lang="en-US" altLang="zh-CN" sz="1400">
                            <a:latin typeface="+mn-ea"/>
                          </a:rPr>
                          <m:t>6</m:t>
                        </m:r>
                      </m:sup>
                    </m:sSup>
                  </m:oMath>
                </a14:m>
                <a:r>
                  <a:rPr kumimoji="1" lang="en-US" altLang="zh-CN" sz="1400" dirty="0">
                    <a:latin typeface="+mn-ea"/>
                  </a:rPr>
                  <a:t> (supply loss coefficient),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>
                            <a:latin typeface="+mn-ea"/>
                          </a:rPr>
                        </m:ctrlPr>
                      </m:sSubPr>
                      <m:e>
                        <m:r>
                          <a:rPr kumimoji="1" lang="en-US" altLang="zh-CN" sz="1400">
                            <a:latin typeface="+mn-ea"/>
                          </a:rPr>
                          <m:t>𝑅</m:t>
                        </m:r>
                      </m:e>
                      <m:sub>
                        <m:r>
                          <a:rPr kumimoji="1" lang="en-US" altLang="zh-CN" sz="1400">
                            <a:latin typeface="+mn-ea"/>
                          </a:rPr>
                          <m:t>𝑙𝑜𝑠𝑠</m:t>
                        </m:r>
                      </m:sub>
                    </m:sSub>
                    <m:r>
                      <a:rPr kumimoji="1" lang="en-US" altLang="zh-CN" sz="1400">
                        <a:latin typeface="+mn-ea"/>
                      </a:rPr>
                      <m:t> </m:t>
                    </m:r>
                  </m:oMath>
                </a14:m>
                <a:r>
                  <a:rPr kumimoji="1" lang="en-US" altLang="zh-CN" sz="1400" dirty="0">
                    <a:latin typeface="+mn-ea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400">
                            <a:latin typeface="+mn-ea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Water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Demand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-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Actual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Water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Supply</m:t>
                        </m:r>
                      </m:num>
                      <m:den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Total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Water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1" lang="en-US" altLang="zh-CN" sz="1400" dirty="0">
                            <a:latin typeface="+mn-ea"/>
                          </a:rPr>
                          <m:t>Demand</m:t>
                        </m:r>
                      </m:den>
                    </m:f>
                  </m:oMath>
                </a14:m>
                <a:r>
                  <a:rPr kumimoji="1" lang="en-US" altLang="zh-CN" sz="1400" dirty="0">
                    <a:latin typeface="+mn-ea"/>
                  </a:rPr>
                  <a:t> (supply loss rate). 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1400" dirty="0">
                    <a:latin typeface="+mn-ea"/>
                  </a:rPr>
                  <a:t>This cost is only incurred when the decision is shutdown (decision = 1) and the emergency storage is insufficient.</a:t>
                </a: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1A5407B2-0475-5C51-63D0-2FEE130C5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39" y="3890008"/>
                <a:ext cx="3506437" cy="3065391"/>
              </a:xfrm>
              <a:prstGeom prst="rect">
                <a:avLst/>
              </a:prstGeom>
              <a:blipFill>
                <a:blip r:embed="rId10"/>
                <a:stretch>
                  <a:fillRect l="-521" t="-596" r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8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516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3187"/>
  <p:tag name="OP_SCP_COMPONENT_INFO" val="{&quot;title&quot;:&quot;渐变3项总分分支&quot;,&quot;description&quot;:&quot;紫色,渐变,3项&quot;,&quot;keywords&quot;:[&quot;紫色&quot;,&quot;渐变&quot;,&quot;3项&quot;],&quot;labels&quot;:[]}"/>
  <p:tag name="OP_SCP_GROUP_ID" val="dcd8d099-d53b-5b4e-10bf-649ee3198102"/>
  <p:tag name="OP_SCP_ITEM_COUNT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添加标题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200</Words>
  <Application>Microsoft Office PowerPoint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思源黑体 CN Regular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渝曼 张</dc:creator>
  <cp:lastModifiedBy>渝曼 张</cp:lastModifiedBy>
  <cp:revision>7</cp:revision>
  <dcterms:created xsi:type="dcterms:W3CDTF">2026-01-21T16:02:07Z</dcterms:created>
  <dcterms:modified xsi:type="dcterms:W3CDTF">2026-01-23T08:51:23Z</dcterms:modified>
</cp:coreProperties>
</file>